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2" r:id="rId7"/>
    <p:sldId id="263" r:id="rId8"/>
    <p:sldId id="264" r:id="rId9"/>
    <p:sldId id="267" r:id="rId10"/>
    <p:sldId id="265" r:id="rId11"/>
    <p:sldId id="266" r:id="rId12"/>
    <p:sldId id="269" r:id="rId13"/>
    <p:sldId id="27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7972C0-4528-4624-AEAE-3B25CE9D3AEC}" v="15" dt="2026-07-14T16:50:22.2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6" d="100"/>
          <a:sy n="66" d="100"/>
        </p:scale>
        <p:origin x="900"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BDA1D8-85F3-4555-8FCD-9A3DD130C2EB}" type="datetimeFigureOut">
              <a:rPr lang="en-IN" smtClean="0"/>
              <a:t>14-07-2026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366397-642A-408D-AC01-D59D94D4ADB6}" type="slidenum">
              <a:rPr lang="en-IN" smtClean="0"/>
              <a:t>‹#›</a:t>
            </a:fld>
            <a:endParaRPr lang="en-IN"/>
          </a:p>
        </p:txBody>
      </p:sp>
    </p:spTree>
    <p:extLst>
      <p:ext uri="{BB962C8B-B14F-4D97-AF65-F5344CB8AC3E}">
        <p14:creationId xmlns:p14="http://schemas.microsoft.com/office/powerpoint/2010/main" val="1531262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FA82-0322-9FF2-9A28-227C2A369D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7C68E18-EA88-C767-7545-A33CBCB3E3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F4C9D4-1B26-73C7-196B-F5CC42DED569}"/>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5" name="Footer Placeholder 4">
            <a:extLst>
              <a:ext uri="{FF2B5EF4-FFF2-40B4-BE49-F238E27FC236}">
                <a16:creationId xmlns:a16="http://schemas.microsoft.com/office/drawing/2014/main" id="{7E099C04-64CA-5E3A-E5FC-300C0EA77D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E52666-8B9A-B35C-0ABB-812EAFAE8623}"/>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4127692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3F4F-751B-4401-E33D-A51B400B1C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D1B79D-3383-9A11-9C4E-27A32EBA95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596AF8-F121-070E-3A4E-BE469C7581DC}"/>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5" name="Footer Placeholder 4">
            <a:extLst>
              <a:ext uri="{FF2B5EF4-FFF2-40B4-BE49-F238E27FC236}">
                <a16:creationId xmlns:a16="http://schemas.microsoft.com/office/drawing/2014/main" id="{69FCB1F4-0E42-AC13-B541-332CB21555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BDD7A5-5AF3-138D-FEF3-1D6D98BFEB95}"/>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890668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38F9A-0A21-A84C-FBA0-8F0B1B9076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1227EF-877E-C4A5-F1AA-D7DB25ABDE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E06107-E941-228C-190D-3AF9DBA1A9E9}"/>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5" name="Footer Placeholder 4">
            <a:extLst>
              <a:ext uri="{FF2B5EF4-FFF2-40B4-BE49-F238E27FC236}">
                <a16:creationId xmlns:a16="http://schemas.microsoft.com/office/drawing/2014/main" id="{DFECD8D6-D9E4-3DD3-7BD6-EA051F6450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4F5CBE-C466-5DBB-20F6-B609D675FB64}"/>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2443345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2ED80-33A6-3C9C-6444-131C8A1E9A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384974-9BB9-B268-2190-9B936802EC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D9CC22-C5EB-FC89-974C-1466B98397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CD682E-9AD9-44C0-0A71-61846437893E}"/>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6" name="Footer Placeholder 5">
            <a:extLst>
              <a:ext uri="{FF2B5EF4-FFF2-40B4-BE49-F238E27FC236}">
                <a16:creationId xmlns:a16="http://schemas.microsoft.com/office/drawing/2014/main" id="{51E46A82-DC20-702D-94A4-F6958C4646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192A47-7DC8-BC82-A417-505CDD875487}"/>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3757154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A832-0444-04A5-9776-0BC49596055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C70082-CBEA-0239-6742-AD5D6ACAE0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2AC41B-401E-AFD5-ACAB-79172DCC71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138C82-AFAD-6F2A-403E-B7474254A8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94140C-994D-612D-67C7-3050A58E6C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09A1F5-3E50-75E4-3609-CAB1C9BFB2CC}"/>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8" name="Footer Placeholder 7">
            <a:extLst>
              <a:ext uri="{FF2B5EF4-FFF2-40B4-BE49-F238E27FC236}">
                <a16:creationId xmlns:a16="http://schemas.microsoft.com/office/drawing/2014/main" id="{4CF34501-C716-4795-33D3-189A466F2D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D91B5E-FCBD-E45A-057A-A7CA1C011B64}"/>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1751044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F3755-37F7-0DFE-42CD-7E12CE5D60A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2BF609-DBC5-D5C8-AE25-E89BA151E77F}"/>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4" name="Footer Placeholder 3">
            <a:extLst>
              <a:ext uri="{FF2B5EF4-FFF2-40B4-BE49-F238E27FC236}">
                <a16:creationId xmlns:a16="http://schemas.microsoft.com/office/drawing/2014/main" id="{ECEF69D6-0960-876E-DD91-96B76D5C5BF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5E61BB-23C2-8216-2213-50EABF9FC4DF}"/>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1744138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5C5522-AF5A-9718-7D38-D50FB574A2C4}"/>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3" name="Footer Placeholder 2">
            <a:extLst>
              <a:ext uri="{FF2B5EF4-FFF2-40B4-BE49-F238E27FC236}">
                <a16:creationId xmlns:a16="http://schemas.microsoft.com/office/drawing/2014/main" id="{9E81A9A4-E0DE-5BF8-2953-684BC6D60B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C10D361-5057-D695-12D3-933090D33F6C}"/>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164426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7299E-1D61-3535-5D2E-5168391C91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56E328F-77A0-AFFE-0921-B59BA59B36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539374-719B-AC0E-4C27-7AF477BD7A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7A018C-DFF5-33A2-47A1-6C4ECE6C3DD5}"/>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6" name="Footer Placeholder 5">
            <a:extLst>
              <a:ext uri="{FF2B5EF4-FFF2-40B4-BE49-F238E27FC236}">
                <a16:creationId xmlns:a16="http://schemas.microsoft.com/office/drawing/2014/main" id="{3EF84C13-8BD4-3276-E37C-6CF389FB67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86FF50-3566-3AE8-4320-D21A443BB614}"/>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3401789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B432-465E-D1EC-D37F-910D639096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469FC22-2AC8-AB0A-460C-F709406FCB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E01D06-B319-4E1D-6154-22AAF291C1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35678E-5209-746B-68A3-81525EF03EB2}"/>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6" name="Footer Placeholder 5">
            <a:extLst>
              <a:ext uri="{FF2B5EF4-FFF2-40B4-BE49-F238E27FC236}">
                <a16:creationId xmlns:a16="http://schemas.microsoft.com/office/drawing/2014/main" id="{889F1EA4-E9C9-90AE-E26E-A3A43FA88A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04CD2D-7D50-A5AA-68B2-7F4A995BA0B5}"/>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1268888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AB219-E8B1-D93E-4AEA-F6D41E6851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3D707-0EE1-333D-CFB4-8563B13588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9038B1-A9CE-8003-EE16-456AC69004F9}"/>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5" name="Footer Placeholder 4">
            <a:extLst>
              <a:ext uri="{FF2B5EF4-FFF2-40B4-BE49-F238E27FC236}">
                <a16:creationId xmlns:a16="http://schemas.microsoft.com/office/drawing/2014/main" id="{F37D55D3-0167-C5E5-B502-DA294DEDC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607426-1865-6961-E2A6-39ED0DC0C19A}"/>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3667134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972F7E-6F84-4D45-7162-123107E13A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D73B25-A0AB-C23C-1F7F-D841D82E42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CBEC00-19F8-C91E-3717-2C34858775B0}"/>
              </a:ext>
            </a:extLst>
          </p:cNvPr>
          <p:cNvSpPr>
            <a:spLocks noGrp="1"/>
          </p:cNvSpPr>
          <p:nvPr>
            <p:ph type="dt" sz="half" idx="10"/>
          </p:nvPr>
        </p:nvSpPr>
        <p:spPr/>
        <p:txBody>
          <a:bodyPr/>
          <a:lstStyle/>
          <a:p>
            <a:fld id="{C5CEFE8A-980F-47B4-BC56-AF1689CB70B6}" type="datetimeFigureOut">
              <a:rPr lang="en-IN" smtClean="0"/>
              <a:t>14-07-2026</a:t>
            </a:fld>
            <a:endParaRPr lang="en-IN"/>
          </a:p>
        </p:txBody>
      </p:sp>
      <p:sp>
        <p:nvSpPr>
          <p:cNvPr id="5" name="Footer Placeholder 4">
            <a:extLst>
              <a:ext uri="{FF2B5EF4-FFF2-40B4-BE49-F238E27FC236}">
                <a16:creationId xmlns:a16="http://schemas.microsoft.com/office/drawing/2014/main" id="{84227557-C49C-93A7-FD53-DACA47A2ED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40823F-B4E7-3FA2-EF54-29AA33400014}"/>
              </a:ext>
            </a:extLst>
          </p:cNvPr>
          <p:cNvSpPr>
            <a:spLocks noGrp="1"/>
          </p:cNvSpPr>
          <p:nvPr>
            <p:ph type="sldNum" sz="quarter" idx="12"/>
          </p:nvPr>
        </p:nvSpPr>
        <p:spPr/>
        <p:txBody>
          <a:bodyPr/>
          <a:lstStyle/>
          <a:p>
            <a:fld id="{C266E276-0036-40FF-9CBF-8D10870FF86F}" type="slidenum">
              <a:rPr lang="en-IN" smtClean="0"/>
              <a:t>‹#›</a:t>
            </a:fld>
            <a:endParaRPr lang="en-IN"/>
          </a:p>
        </p:txBody>
      </p:sp>
    </p:spTree>
    <p:extLst>
      <p:ext uri="{BB962C8B-B14F-4D97-AF65-F5344CB8AC3E}">
        <p14:creationId xmlns:p14="http://schemas.microsoft.com/office/powerpoint/2010/main" val="2098366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D5784E-4DB3-CEB3-2431-4D45CEBB8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D66E4F-27F4-FD7F-8DC0-F3238E178E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96B763-41A1-00F4-BCC2-63538CEB48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CEFE8A-980F-47B4-BC56-AF1689CB70B6}" type="datetimeFigureOut">
              <a:rPr lang="en-IN" smtClean="0"/>
              <a:t>14-07-2026</a:t>
            </a:fld>
            <a:endParaRPr lang="en-IN"/>
          </a:p>
        </p:txBody>
      </p:sp>
      <p:sp>
        <p:nvSpPr>
          <p:cNvPr id="5" name="Footer Placeholder 4">
            <a:extLst>
              <a:ext uri="{FF2B5EF4-FFF2-40B4-BE49-F238E27FC236}">
                <a16:creationId xmlns:a16="http://schemas.microsoft.com/office/drawing/2014/main" id="{015E6765-6E0F-48CB-B7A3-9A256BFD43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40782C3-6FEB-EAAE-4F7F-65A2154998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66E276-0036-40FF-9CBF-8D10870FF86F}" type="slidenum">
              <a:rPr lang="en-IN" smtClean="0"/>
              <a:t>‹#›</a:t>
            </a:fld>
            <a:endParaRPr lang="en-IN"/>
          </a:p>
        </p:txBody>
      </p:sp>
    </p:spTree>
    <p:extLst>
      <p:ext uri="{BB962C8B-B14F-4D97-AF65-F5344CB8AC3E}">
        <p14:creationId xmlns:p14="http://schemas.microsoft.com/office/powerpoint/2010/main" val="59548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Varalakshmi2025/IntelliWaste-Planner.git"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01E51-CFEE-C1D1-CAFD-590ECD10C8DF}"/>
              </a:ext>
            </a:extLst>
          </p:cNvPr>
          <p:cNvSpPr>
            <a:spLocks noGrp="1"/>
          </p:cNvSpPr>
          <p:nvPr>
            <p:ph type="ctrTitle"/>
          </p:nvPr>
        </p:nvSpPr>
        <p:spPr/>
        <p:txBody>
          <a:bodyPr>
            <a:normAutofit/>
          </a:bodyPr>
          <a:lstStyle/>
          <a:p>
            <a:r>
              <a:rPr lang="en-IN" sz="4800" b="1" dirty="0">
                <a:latin typeface="Arial" panose="020B0604020202020204" pitchFamily="34" charset="0"/>
                <a:cs typeface="Arial" panose="020B0604020202020204" pitchFamily="34" charset="0"/>
              </a:rPr>
              <a:t>IBM University Engagement Project Submission</a:t>
            </a:r>
          </a:p>
        </p:txBody>
      </p:sp>
      <p:sp>
        <p:nvSpPr>
          <p:cNvPr id="3" name="Subtitle 2">
            <a:extLst>
              <a:ext uri="{FF2B5EF4-FFF2-40B4-BE49-F238E27FC236}">
                <a16:creationId xmlns:a16="http://schemas.microsoft.com/office/drawing/2014/main" id="{E27FE52F-0083-3A99-B8A3-9FDA0EFE0EF7}"/>
              </a:ext>
            </a:extLst>
          </p:cNvPr>
          <p:cNvSpPr>
            <a:spLocks noGrp="1"/>
          </p:cNvSpPr>
          <p:nvPr>
            <p:ph type="subTitle" idx="1"/>
          </p:nvPr>
        </p:nvSpPr>
        <p:spPr>
          <a:xfrm>
            <a:off x="1524000" y="3776850"/>
            <a:ext cx="9144000" cy="1655762"/>
          </a:xfrm>
        </p:spPr>
        <p:txBody>
          <a:bodyPr/>
          <a:lstStyle/>
          <a:p>
            <a:r>
              <a:rPr lang="en-IN" dirty="0">
                <a:latin typeface="Arial" panose="020B0604020202020204" pitchFamily="34" charset="0"/>
                <a:cs typeface="Arial" panose="020B0604020202020204" pitchFamily="34" charset="0"/>
              </a:rPr>
              <a:t>“Exploring the Power of Machine Learning with IBM Cloud</a:t>
            </a:r>
            <a:r>
              <a:rPr lang="en-IN" dirty="0"/>
              <a:t>”</a:t>
            </a:r>
          </a:p>
        </p:txBody>
      </p:sp>
    </p:spTree>
    <p:extLst>
      <p:ext uri="{BB962C8B-B14F-4D97-AF65-F5344CB8AC3E}">
        <p14:creationId xmlns:p14="http://schemas.microsoft.com/office/powerpoint/2010/main" val="780174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7407F-40D2-8747-E15E-8B1B08BC1C69}"/>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Project Title – </a:t>
            </a:r>
            <a:r>
              <a:rPr lang="en-IN" sz="2800" b="1" dirty="0" err="1">
                <a:latin typeface="Arial" panose="020B0604020202020204" pitchFamily="34" charset="0"/>
                <a:cs typeface="Arial" panose="020B0604020202020204" pitchFamily="34" charset="0"/>
              </a:rPr>
              <a:t>Intelliwaste</a:t>
            </a:r>
            <a:r>
              <a:rPr lang="en-IN" sz="2800" b="1" dirty="0">
                <a:latin typeface="Arial" panose="020B0604020202020204" pitchFamily="34" charset="0"/>
                <a:cs typeface="Arial" panose="020B0604020202020204" pitchFamily="34" charset="0"/>
              </a:rPr>
              <a:t> Event Planner</a:t>
            </a:r>
            <a:br>
              <a:rPr lang="en-IN" sz="2800" b="1" dirty="0">
                <a:latin typeface="Arial" panose="020B0604020202020204" pitchFamily="34" charset="0"/>
                <a:cs typeface="Arial" panose="020B0604020202020204" pitchFamily="34" charset="0"/>
              </a:rPr>
            </a:br>
            <a:r>
              <a:rPr lang="en-IN" sz="2800" b="1" dirty="0">
                <a:latin typeface="Arial" panose="020B0604020202020204" pitchFamily="34" charset="0"/>
                <a:cs typeface="Arial" panose="020B0604020202020204" pitchFamily="34" charset="0"/>
              </a:rPr>
              <a:t>Domain of Project – Environmental Sustainability</a:t>
            </a:r>
          </a:p>
        </p:txBody>
      </p:sp>
      <p:graphicFrame>
        <p:nvGraphicFramePr>
          <p:cNvPr id="5" name="Content Placeholder 4">
            <a:extLst>
              <a:ext uri="{FF2B5EF4-FFF2-40B4-BE49-F238E27FC236}">
                <a16:creationId xmlns:a16="http://schemas.microsoft.com/office/drawing/2014/main" id="{17540627-7A9B-6253-4BA6-19EACC8AF112}"/>
              </a:ext>
            </a:extLst>
          </p:cNvPr>
          <p:cNvGraphicFramePr>
            <a:graphicFrameLocks noGrp="1"/>
          </p:cNvGraphicFramePr>
          <p:nvPr>
            <p:ph idx="1"/>
            <p:extLst>
              <p:ext uri="{D42A27DB-BD31-4B8C-83A1-F6EECF244321}">
                <p14:modId xmlns:p14="http://schemas.microsoft.com/office/powerpoint/2010/main" val="2448400751"/>
              </p:ext>
            </p:extLst>
          </p:nvPr>
        </p:nvGraphicFramePr>
        <p:xfrm>
          <a:off x="838200" y="2312894"/>
          <a:ext cx="10515600" cy="2810435"/>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454239998"/>
                    </a:ext>
                  </a:extLst>
                </a:gridCol>
                <a:gridCol w="2624418">
                  <a:extLst>
                    <a:ext uri="{9D8B030D-6E8A-4147-A177-3AD203B41FA5}">
                      <a16:colId xmlns:a16="http://schemas.microsoft.com/office/drawing/2014/main" val="1973558313"/>
                    </a:ext>
                  </a:extLst>
                </a:gridCol>
                <a:gridCol w="2633382">
                  <a:extLst>
                    <a:ext uri="{9D8B030D-6E8A-4147-A177-3AD203B41FA5}">
                      <a16:colId xmlns:a16="http://schemas.microsoft.com/office/drawing/2014/main" val="2111744938"/>
                    </a:ext>
                  </a:extLst>
                </a:gridCol>
                <a:gridCol w="2628900">
                  <a:extLst>
                    <a:ext uri="{9D8B030D-6E8A-4147-A177-3AD203B41FA5}">
                      <a16:colId xmlns:a16="http://schemas.microsoft.com/office/drawing/2014/main" val="2661054632"/>
                    </a:ext>
                  </a:extLst>
                </a:gridCol>
              </a:tblGrid>
              <a:tr h="1211139">
                <a:tc>
                  <a:txBody>
                    <a:bodyPr/>
                    <a:lstStyle/>
                    <a:p>
                      <a:pPr algn="ctr"/>
                      <a:r>
                        <a:rPr lang="en-IN" sz="2000" b="0" dirty="0">
                          <a:solidFill>
                            <a:schemeClr val="tx1"/>
                          </a:solidFill>
                          <a:latin typeface="Arial" panose="020B0604020202020204" pitchFamily="34" charset="0"/>
                          <a:cs typeface="Arial" panose="020B0604020202020204" pitchFamily="34" charset="0"/>
                        </a:rPr>
                        <a:t>Student Name</a:t>
                      </a:r>
                    </a:p>
                  </a:txBody>
                  <a:tcPr anchor="ctr"/>
                </a:tc>
                <a:tc>
                  <a:txBody>
                    <a:bodyPr/>
                    <a:lstStyle/>
                    <a:p>
                      <a:pPr algn="ctr"/>
                      <a:r>
                        <a:rPr lang="en-IN" sz="2000" b="0" dirty="0">
                          <a:solidFill>
                            <a:schemeClr val="tx1"/>
                          </a:solidFill>
                          <a:latin typeface="Arial" panose="020B0604020202020204" pitchFamily="34" charset="0"/>
                          <a:cs typeface="Arial" panose="020B0604020202020204" pitchFamily="34" charset="0"/>
                        </a:rPr>
                        <a:t>Recent Passport Photo </a:t>
                      </a:r>
                    </a:p>
                  </a:txBody>
                  <a:tcPr anchor="ctr"/>
                </a:tc>
                <a:tc>
                  <a:txBody>
                    <a:bodyPr/>
                    <a:lstStyle/>
                    <a:p>
                      <a:pPr algn="ctr"/>
                      <a:r>
                        <a:rPr lang="en-IN" sz="2000" b="0" dirty="0">
                          <a:solidFill>
                            <a:schemeClr val="tx1"/>
                          </a:solidFill>
                          <a:latin typeface="Arial" panose="020B0604020202020204" pitchFamily="34" charset="0"/>
                          <a:cs typeface="Arial" panose="020B0604020202020204" pitchFamily="34" charset="0"/>
                        </a:rPr>
                        <a:t>Email ID</a:t>
                      </a:r>
                    </a:p>
                  </a:txBody>
                  <a:tcPr anchor="ctr"/>
                </a:tc>
                <a:tc>
                  <a:txBody>
                    <a:bodyPr/>
                    <a:lstStyle/>
                    <a:p>
                      <a:pPr algn="ctr"/>
                      <a:r>
                        <a:rPr lang="en-IN" sz="2000" b="0" dirty="0">
                          <a:solidFill>
                            <a:schemeClr val="tx1"/>
                          </a:solidFill>
                          <a:latin typeface="Arial" panose="020B0604020202020204" pitchFamily="34" charset="0"/>
                          <a:cs typeface="Arial" panose="020B0604020202020204" pitchFamily="34" charset="0"/>
                        </a:rPr>
                        <a:t>Mobile number [WhatsApp] </a:t>
                      </a:r>
                    </a:p>
                  </a:txBody>
                  <a:tcPr anchor="ctr"/>
                </a:tc>
                <a:extLst>
                  <a:ext uri="{0D108BD9-81ED-4DB2-BD59-A6C34878D82A}">
                    <a16:rowId xmlns:a16="http://schemas.microsoft.com/office/drawing/2014/main" val="3315485322"/>
                  </a:ext>
                </a:extLst>
              </a:tr>
              <a:tr h="1599296">
                <a:tc>
                  <a:txBody>
                    <a:bodyPr/>
                    <a:lstStyle/>
                    <a:p>
                      <a:r>
                        <a:rPr lang="en-IN" dirty="0"/>
                        <a:t>     VARALAKSHMI R</a:t>
                      </a:r>
                    </a:p>
                  </a:txBody>
                  <a:tcPr anchor="ctr"/>
                </a:tc>
                <a:tc>
                  <a:txBody>
                    <a:bodyPr/>
                    <a:lstStyle/>
                    <a:p>
                      <a:endParaRPr lang="en-IN" dirty="0"/>
                    </a:p>
                  </a:txBody>
                  <a:tcPr/>
                </a:tc>
                <a:tc>
                  <a:txBody>
                    <a:bodyPr/>
                    <a:lstStyle/>
                    <a:p>
                      <a:r>
                        <a:rPr lang="en-IN" dirty="0"/>
                        <a:t>Lakshmivara200611@gmail.com</a:t>
                      </a:r>
                    </a:p>
                  </a:txBody>
                  <a:tcPr anchor="ctr"/>
                </a:tc>
                <a:tc>
                  <a:txBody>
                    <a:bodyPr/>
                    <a:lstStyle/>
                    <a:p>
                      <a:r>
                        <a:rPr lang="en-IN" dirty="0"/>
                        <a:t>       91+ 6369546350</a:t>
                      </a:r>
                    </a:p>
                  </a:txBody>
                  <a:tcPr anchor="ctr"/>
                </a:tc>
                <a:extLst>
                  <a:ext uri="{0D108BD9-81ED-4DB2-BD59-A6C34878D82A}">
                    <a16:rowId xmlns:a16="http://schemas.microsoft.com/office/drawing/2014/main" val="3529999655"/>
                  </a:ext>
                </a:extLst>
              </a:tr>
            </a:tbl>
          </a:graphicData>
        </a:graphic>
      </p:graphicFrame>
      <p:pic>
        <p:nvPicPr>
          <p:cNvPr id="4" name="Picture 3">
            <a:extLst>
              <a:ext uri="{FF2B5EF4-FFF2-40B4-BE49-F238E27FC236}">
                <a16:creationId xmlns:a16="http://schemas.microsoft.com/office/drawing/2014/main" id="{6F08EF14-669A-3129-B8C4-C0BFCFAA00E5}"/>
              </a:ext>
            </a:extLst>
          </p:cNvPr>
          <p:cNvPicPr>
            <a:picLocks noChangeAspect="1"/>
          </p:cNvPicPr>
          <p:nvPr/>
        </p:nvPicPr>
        <p:blipFill>
          <a:blip r:embed="rId2">
            <a:extLst>
              <a:ext uri="{28A0092B-C50C-407E-A947-70E740481C1C}">
                <a14:useLocalDpi xmlns:a14="http://schemas.microsoft.com/office/drawing/2010/main" val="0"/>
              </a:ext>
            </a:extLst>
          </a:blip>
          <a:srcRect l="16355" r="10400"/>
          <a:stretch>
            <a:fillRect/>
          </a:stretch>
        </p:blipFill>
        <p:spPr>
          <a:xfrm>
            <a:off x="4063998" y="3551704"/>
            <a:ext cx="1494973" cy="1571625"/>
          </a:xfrm>
          <a:prstGeom prst="rect">
            <a:avLst/>
          </a:prstGeom>
        </p:spPr>
      </p:pic>
    </p:spTree>
    <p:extLst>
      <p:ext uri="{BB962C8B-B14F-4D97-AF65-F5344CB8AC3E}">
        <p14:creationId xmlns:p14="http://schemas.microsoft.com/office/powerpoint/2010/main" val="900530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0D168-9565-20D5-A36B-37A2035145F5}"/>
              </a:ext>
            </a:extLst>
          </p:cNvPr>
          <p:cNvSpPr>
            <a:spLocks noGrp="1"/>
          </p:cNvSpPr>
          <p:nvPr>
            <p:ph type="ctrTitle"/>
          </p:nvPr>
        </p:nvSpPr>
        <p:spPr>
          <a:xfrm>
            <a:off x="1147482" y="300105"/>
            <a:ext cx="3738283" cy="510988"/>
          </a:xfrm>
        </p:spPr>
        <p:txBody>
          <a:bodyPr>
            <a:normAutofit/>
          </a:bodyPr>
          <a:lstStyle/>
          <a:p>
            <a:r>
              <a:rPr lang="en-IN" sz="2800" b="1" dirty="0">
                <a:latin typeface="Arial" panose="020B0604020202020204" pitchFamily="34" charset="0"/>
                <a:cs typeface="Arial" panose="020B0604020202020204" pitchFamily="34" charset="0"/>
              </a:rPr>
              <a:t>Problem Statement :</a:t>
            </a:r>
          </a:p>
        </p:txBody>
      </p:sp>
      <p:sp>
        <p:nvSpPr>
          <p:cNvPr id="3" name="Subtitle 2">
            <a:extLst>
              <a:ext uri="{FF2B5EF4-FFF2-40B4-BE49-F238E27FC236}">
                <a16:creationId xmlns:a16="http://schemas.microsoft.com/office/drawing/2014/main" id="{2CF9FA44-9D86-2136-94AE-B755A3F8200D}"/>
              </a:ext>
            </a:extLst>
          </p:cNvPr>
          <p:cNvSpPr>
            <a:spLocks noGrp="1"/>
          </p:cNvSpPr>
          <p:nvPr>
            <p:ph type="subTitle" idx="1"/>
          </p:nvPr>
        </p:nvSpPr>
        <p:spPr>
          <a:xfrm>
            <a:off x="1147482" y="981634"/>
            <a:ext cx="9144000" cy="4894731"/>
          </a:xfrm>
        </p:spPr>
        <p:txBody>
          <a:bodyPr>
            <a:normAutofit/>
          </a:bodyPr>
          <a:lstStyle/>
          <a:p>
            <a:pPr algn="l"/>
            <a:r>
              <a:rPr lang="en-IN" sz="2000" b="1" dirty="0">
                <a:latin typeface="Arial" panose="020B0604020202020204" pitchFamily="34" charset="0"/>
                <a:cs typeface="Arial" panose="020B0604020202020204" pitchFamily="34" charset="0"/>
              </a:rPr>
              <a:t>Problem Statement</a:t>
            </a:r>
            <a:r>
              <a:rPr lang="en-IN" sz="2000" dirty="0">
                <a:latin typeface="Arial" panose="020B0604020202020204" pitchFamily="34" charset="0"/>
                <a:cs typeface="Arial" panose="020B0604020202020204" pitchFamily="34" charset="0"/>
              </a:rPr>
              <a:t>: Optimizing Food Waste Management in Event Planning using Generative AI.</a:t>
            </a:r>
          </a:p>
          <a:p>
            <a:pPr algn="just"/>
            <a:r>
              <a:rPr lang="en-IN" sz="2000" dirty="0">
                <a:latin typeface="Arial" panose="020B0604020202020204" pitchFamily="34" charset="0"/>
                <a:cs typeface="Arial" panose="020B0604020202020204" pitchFamily="34" charset="0"/>
              </a:rPr>
              <a:t>The event industry often struggles with the logistics of largescale catering, where organizers must manage meal planning for hundreds or thousands of guests. A major challenge in this process is the lack of a data to predict food waste before an event even begins. Currently, most planners rely on rough estimates and making it safe by over-ordering, which leads to massive amounts of perfectly edible food ending up in the trash. This creates unnecessary costs and puts a heavy strain on the environment. Manual planning is often inaccurate and does not account for the specific variables that influence waste. The goal of this project is to build an intelligent, AI-powered tool that analyses event-specific data, such as guest counts, menu types, duration, and service styles, etc.. to generate accurate waste predictions. This tool will assist event managers in making informed, sustainable ordering decisions, ensuring that food is used efficiently and waste is reduced from the very start.</a:t>
            </a: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6114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2863C-6EB0-EF43-5C40-39743D7C500E}"/>
              </a:ext>
            </a:extLst>
          </p:cNvPr>
          <p:cNvSpPr>
            <a:spLocks noGrp="1"/>
          </p:cNvSpPr>
          <p:nvPr>
            <p:ph type="ctrTitle"/>
          </p:nvPr>
        </p:nvSpPr>
        <p:spPr>
          <a:xfrm>
            <a:off x="1094974" y="665097"/>
            <a:ext cx="3926969" cy="457200"/>
          </a:xfrm>
        </p:spPr>
        <p:txBody>
          <a:bodyPr>
            <a:normAutofit fontScale="90000"/>
          </a:bodyPr>
          <a:lstStyle/>
          <a:p>
            <a:r>
              <a:rPr lang="en-IN" sz="3100" b="1" dirty="0">
                <a:latin typeface="Arial" panose="020B0604020202020204" pitchFamily="34" charset="0"/>
                <a:cs typeface="Arial" panose="020B0604020202020204" pitchFamily="34" charset="0"/>
              </a:rPr>
              <a:t>Proposed Solution </a:t>
            </a:r>
            <a:r>
              <a:rPr lang="en-IN" sz="2800" b="1" dirty="0">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6EE79DA6-A41D-1B2E-54AD-C59C17573A6D}"/>
              </a:ext>
            </a:extLst>
          </p:cNvPr>
          <p:cNvSpPr>
            <a:spLocks noGrp="1"/>
          </p:cNvSpPr>
          <p:nvPr>
            <p:ph type="subTitle" idx="1"/>
          </p:nvPr>
        </p:nvSpPr>
        <p:spPr>
          <a:xfrm>
            <a:off x="1196574" y="1647798"/>
            <a:ext cx="8960224" cy="4087905"/>
          </a:xfrm>
        </p:spPr>
        <p:txBody>
          <a:bodyPr>
            <a:normAutofit fontScale="92500"/>
          </a:bodyPr>
          <a:lstStyle/>
          <a:p>
            <a:pPr algn="just"/>
            <a:r>
              <a:rPr lang="en-IN" sz="2200" b="1" dirty="0">
                <a:latin typeface="Arial" panose="020B0604020202020204" pitchFamily="34" charset="0"/>
                <a:cs typeface="Arial" panose="020B0604020202020204" pitchFamily="34" charset="0"/>
              </a:rPr>
              <a:t>IBM Watsonx.ai - Generative AI &amp; Foundational Agent:</a:t>
            </a:r>
            <a:endParaRPr lang="en-IN" sz="2200" dirty="0">
              <a:latin typeface="Arial" panose="020B0604020202020204" pitchFamily="34" charset="0"/>
              <a:cs typeface="Arial" panose="020B0604020202020204" pitchFamily="34" charset="0"/>
            </a:endParaRPr>
          </a:p>
          <a:p>
            <a:pPr algn="just"/>
            <a:r>
              <a:rPr lang="en-IN" sz="2200" dirty="0">
                <a:latin typeface="Arial" panose="020B0604020202020204" pitchFamily="34" charset="0"/>
                <a:cs typeface="Arial" panose="020B0604020202020204" pitchFamily="34" charset="0"/>
              </a:rPr>
              <a:t>I proposed an AI-powered "</a:t>
            </a:r>
            <a:r>
              <a:rPr lang="en-IN" sz="2200" dirty="0" err="1">
                <a:latin typeface="Arial" panose="020B0604020202020204" pitchFamily="34" charset="0"/>
                <a:cs typeface="Arial" panose="020B0604020202020204" pitchFamily="34" charset="0"/>
              </a:rPr>
              <a:t>Intelliwaste</a:t>
            </a:r>
            <a:r>
              <a:rPr lang="en-IN" sz="2200" dirty="0">
                <a:latin typeface="Arial" panose="020B0604020202020204" pitchFamily="34" charset="0"/>
                <a:cs typeface="Arial" panose="020B0604020202020204" pitchFamily="34" charset="0"/>
              </a:rPr>
              <a:t> Event Planner" using </a:t>
            </a:r>
            <a:r>
              <a:rPr lang="en-IN" sz="2200" b="1" dirty="0">
                <a:latin typeface="Arial" panose="020B0604020202020204" pitchFamily="34" charset="0"/>
                <a:cs typeface="Arial" panose="020B0604020202020204" pitchFamily="34" charset="0"/>
              </a:rPr>
              <a:t>IBM Watsonx.ai Studio </a:t>
            </a:r>
            <a:r>
              <a:rPr lang="en-IN" sz="2200" dirty="0">
                <a:latin typeface="Arial" panose="020B0604020202020204" pitchFamily="34" charset="0"/>
                <a:cs typeface="Arial" panose="020B0604020202020204" pitchFamily="34" charset="0"/>
              </a:rPr>
              <a:t>and </a:t>
            </a:r>
            <a:r>
              <a:rPr lang="en-IN" sz="2200" b="1" dirty="0">
                <a:latin typeface="Arial" panose="020B0604020202020204" pitchFamily="34" charset="0"/>
                <a:cs typeface="Arial" panose="020B0604020202020204" pitchFamily="34" charset="0"/>
              </a:rPr>
              <a:t>the</a:t>
            </a:r>
            <a:r>
              <a:rPr lang="en-IN" sz="2200" dirty="0">
                <a:latin typeface="Arial" panose="020B0604020202020204" pitchFamily="34" charset="0"/>
                <a:cs typeface="Arial" panose="020B0604020202020204" pitchFamily="34" charset="0"/>
              </a:rPr>
              <a:t> </a:t>
            </a:r>
            <a:r>
              <a:rPr lang="en-IN" sz="2200" b="1" dirty="0">
                <a:latin typeface="Arial" panose="020B0604020202020204" pitchFamily="34" charset="0"/>
                <a:cs typeface="Arial" panose="020B0604020202020204" pitchFamily="34" charset="0"/>
              </a:rPr>
              <a:t>Llama-3 model.</a:t>
            </a:r>
          </a:p>
          <a:p>
            <a:pPr algn="just"/>
            <a:r>
              <a:rPr lang="en-IN" sz="2200" dirty="0">
                <a:latin typeface="Arial" panose="020B0604020202020204" pitchFamily="34" charset="0"/>
                <a:cs typeface="Arial" panose="020B0604020202020204" pitchFamily="34" charset="0"/>
              </a:rPr>
              <a:t>Essential event details (such as guest count, menu type, service duration, and serving style) are processed through the </a:t>
            </a:r>
            <a:r>
              <a:rPr lang="en-IN" sz="2200" b="1" dirty="0">
                <a:latin typeface="Arial" panose="020B0604020202020204" pitchFamily="34" charset="0"/>
                <a:cs typeface="Arial" panose="020B0604020202020204" pitchFamily="34" charset="0"/>
              </a:rPr>
              <a:t>IBM </a:t>
            </a:r>
            <a:r>
              <a:rPr lang="en-IN" sz="2200" b="1" dirty="0" err="1">
                <a:latin typeface="Arial" panose="020B0604020202020204" pitchFamily="34" charset="0"/>
                <a:cs typeface="Arial" panose="020B0604020202020204" pitchFamily="34" charset="0"/>
              </a:rPr>
              <a:t>Watsonx</a:t>
            </a:r>
            <a:r>
              <a:rPr lang="en-IN" sz="2200" b="1" dirty="0">
                <a:latin typeface="Arial" panose="020B0604020202020204" pitchFamily="34" charset="0"/>
                <a:cs typeface="Arial" panose="020B0604020202020204" pitchFamily="34" charset="0"/>
              </a:rPr>
              <a:t> API.</a:t>
            </a:r>
          </a:p>
          <a:p>
            <a:pPr algn="just"/>
            <a:r>
              <a:rPr lang="en-IN" sz="2200" dirty="0">
                <a:latin typeface="Arial" panose="020B0604020202020204" pitchFamily="34" charset="0"/>
                <a:cs typeface="Arial" panose="020B0604020202020204" pitchFamily="34" charset="0"/>
              </a:rPr>
              <a:t>The foundational agent analyses this input against sustainability benchmarks to identify waste patterns and resource inefficiencies.</a:t>
            </a:r>
          </a:p>
          <a:p>
            <a:pPr algn="just"/>
            <a:r>
              <a:rPr lang="en-IN" sz="2200" dirty="0">
                <a:latin typeface="Arial" panose="020B0604020202020204" pitchFamily="34" charset="0"/>
                <a:cs typeface="Arial" panose="020B0604020202020204" pitchFamily="34" charset="0"/>
              </a:rPr>
              <a:t>Multiple prompt iterations are generated and evaluated to ensure the system provides precise, actionable waste predictions and reduction strategies.</a:t>
            </a:r>
          </a:p>
          <a:p>
            <a:pPr algn="just"/>
            <a:r>
              <a:rPr lang="en-IN" sz="2200" dirty="0">
                <a:latin typeface="Arial" panose="020B0604020202020204" pitchFamily="34" charset="0"/>
                <a:cs typeface="Arial" panose="020B0604020202020204" pitchFamily="34" charset="0"/>
              </a:rPr>
              <a:t>The system delivers a clear report that empowers event planners to optimize their food orders, reducing both environmental impact and operational costs.</a:t>
            </a:r>
          </a:p>
          <a:p>
            <a:pPr algn="just"/>
            <a:endParaRPr lang="en-IN" dirty="0"/>
          </a:p>
        </p:txBody>
      </p:sp>
    </p:spTree>
    <p:extLst>
      <p:ext uri="{BB962C8B-B14F-4D97-AF65-F5344CB8AC3E}">
        <p14:creationId xmlns:p14="http://schemas.microsoft.com/office/powerpoint/2010/main" val="48926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EB44-80E0-E352-ACB2-28676523523C}"/>
              </a:ext>
            </a:extLst>
          </p:cNvPr>
          <p:cNvSpPr>
            <a:spLocks noGrp="1"/>
          </p:cNvSpPr>
          <p:nvPr>
            <p:ph type="ctrTitle"/>
          </p:nvPr>
        </p:nvSpPr>
        <p:spPr>
          <a:xfrm>
            <a:off x="675982" y="578224"/>
            <a:ext cx="3954076" cy="564776"/>
          </a:xfrm>
        </p:spPr>
        <p:txBody>
          <a:bodyPr>
            <a:noAutofit/>
          </a:bodyPr>
          <a:lstStyle/>
          <a:p>
            <a:r>
              <a:rPr lang="en-IN" sz="2800" b="1" dirty="0">
                <a:latin typeface="Arial" panose="020B0604020202020204" pitchFamily="34" charset="0"/>
                <a:cs typeface="Arial" panose="020B0604020202020204" pitchFamily="34" charset="0"/>
              </a:rPr>
              <a:t>Technology Used :</a:t>
            </a:r>
          </a:p>
        </p:txBody>
      </p:sp>
      <p:sp>
        <p:nvSpPr>
          <p:cNvPr id="3" name="Subtitle 2">
            <a:extLst>
              <a:ext uri="{FF2B5EF4-FFF2-40B4-BE49-F238E27FC236}">
                <a16:creationId xmlns:a16="http://schemas.microsoft.com/office/drawing/2014/main" id="{08DD1C4A-6553-B7AD-2F7C-9122A4060D1B}"/>
              </a:ext>
            </a:extLst>
          </p:cNvPr>
          <p:cNvSpPr>
            <a:spLocks noGrp="1"/>
          </p:cNvSpPr>
          <p:nvPr>
            <p:ph type="subTitle" idx="1"/>
          </p:nvPr>
        </p:nvSpPr>
        <p:spPr>
          <a:xfrm>
            <a:off x="1053353" y="1344706"/>
            <a:ext cx="9784976" cy="4652682"/>
          </a:xfrm>
        </p:spPr>
        <p:txBody>
          <a:bodyPr>
            <a:normAutofit/>
          </a:bodyPr>
          <a:lstStyle/>
          <a:p>
            <a:pPr algn="just"/>
            <a:r>
              <a:rPr lang="en-IN" sz="2000" b="1" dirty="0">
                <a:latin typeface="Arial" panose="020B0604020202020204" pitchFamily="34" charset="0"/>
                <a:cs typeface="Arial" panose="020B0604020202020204" pitchFamily="34" charset="0"/>
              </a:rPr>
              <a:t>IBM Cloud:</a:t>
            </a:r>
            <a:r>
              <a:rPr lang="en-IN" sz="2000" dirty="0">
                <a:latin typeface="Arial" panose="020B0604020202020204" pitchFamily="34" charset="0"/>
                <a:cs typeface="Arial" panose="020B0604020202020204" pitchFamily="34" charset="0"/>
              </a:rPr>
              <a:t> I used IBM Cloud as the backbone for this project. It provides a reliable and secure environment to host the agent, ensuring that my connection to the </a:t>
            </a:r>
            <a:r>
              <a:rPr lang="en-IN" sz="2000" dirty="0" err="1">
                <a:latin typeface="Arial" panose="020B0604020202020204" pitchFamily="34" charset="0"/>
                <a:cs typeface="Arial" panose="020B0604020202020204" pitchFamily="34" charset="0"/>
              </a:rPr>
              <a:t>Watsonx</a:t>
            </a:r>
            <a:r>
              <a:rPr lang="en-IN" sz="2000" dirty="0">
                <a:latin typeface="Arial" panose="020B0604020202020204" pitchFamily="34" charset="0"/>
                <a:cs typeface="Arial" panose="020B0604020202020204" pitchFamily="34" charset="0"/>
              </a:rPr>
              <a:t> API is always fast and stable.</a:t>
            </a:r>
          </a:p>
          <a:p>
            <a:pPr algn="just"/>
            <a:r>
              <a:rPr lang="en-IN" sz="2000" b="1" dirty="0">
                <a:latin typeface="Arial" panose="020B0604020202020204" pitchFamily="34" charset="0"/>
                <a:cs typeface="Arial" panose="020B0604020202020204" pitchFamily="34" charset="0"/>
              </a:rPr>
              <a:t>AI Model:</a:t>
            </a:r>
            <a:r>
              <a:rPr lang="en-IN" sz="2000" dirty="0">
                <a:latin typeface="Arial" panose="020B0604020202020204" pitchFamily="34" charset="0"/>
                <a:cs typeface="Arial" panose="020B0604020202020204" pitchFamily="34" charset="0"/>
              </a:rPr>
              <a:t> IBM Watsonx.ai (Llama-3 Large Language Model).</a:t>
            </a:r>
          </a:p>
          <a:p>
            <a:pPr algn="just"/>
            <a:r>
              <a:rPr lang="en-IN" sz="2000" b="1" dirty="0">
                <a:latin typeface="Arial" panose="020B0604020202020204" pitchFamily="34" charset="0"/>
                <a:cs typeface="Arial" panose="020B0604020202020204" pitchFamily="34" charset="0"/>
              </a:rPr>
              <a:t>Performance Metrics:</a:t>
            </a:r>
            <a:r>
              <a:rPr lang="en-IN" sz="2000" dirty="0">
                <a:latin typeface="Arial" panose="020B0604020202020204" pitchFamily="34" charset="0"/>
                <a:cs typeface="Arial" panose="020B0604020202020204" pitchFamily="34" charset="0"/>
              </a:rPr>
              <a:t> Because I am working with Generative AI, I measured success by testing for consistency. I ran various scenarios to make sure the agent's logic is sound, that it stays focused on sustainability goals, and that the waste projections it generates are realistic.</a:t>
            </a:r>
          </a:p>
          <a:p>
            <a:pPr algn="just"/>
            <a:r>
              <a:rPr lang="en-IN" sz="2000" b="1" dirty="0">
                <a:latin typeface="Arial" panose="020B0604020202020204" pitchFamily="34" charset="0"/>
                <a:cs typeface="Arial" panose="020B0604020202020204" pitchFamily="34" charset="0"/>
              </a:rPr>
              <a:t>Enhancements and Optimization:</a:t>
            </a:r>
            <a:r>
              <a:rPr lang="en-IN" sz="2000" dirty="0">
                <a:latin typeface="Arial" panose="020B0604020202020204" pitchFamily="34" charset="0"/>
                <a:cs typeface="Arial" panose="020B0604020202020204" pitchFamily="34" charset="0"/>
              </a:rPr>
              <a:t> I focused heavily on "Prompt Engineering“, by carefully writing and refining the system instructions. I taught the agent to stay on track, provide actionable reports, and avoid hallucinating.</a:t>
            </a:r>
          </a:p>
        </p:txBody>
      </p:sp>
    </p:spTree>
    <p:extLst>
      <p:ext uri="{BB962C8B-B14F-4D97-AF65-F5344CB8AC3E}">
        <p14:creationId xmlns:p14="http://schemas.microsoft.com/office/powerpoint/2010/main" val="2256143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7CB95-12AB-4FE2-CBD6-10AE6BAC82C0}"/>
              </a:ext>
            </a:extLst>
          </p:cNvPr>
          <p:cNvSpPr>
            <a:spLocks noGrp="1"/>
          </p:cNvSpPr>
          <p:nvPr>
            <p:ph type="ctrTitle"/>
          </p:nvPr>
        </p:nvSpPr>
        <p:spPr>
          <a:xfrm>
            <a:off x="598062" y="449943"/>
            <a:ext cx="6339768" cy="555635"/>
          </a:xfrm>
        </p:spPr>
        <p:txBody>
          <a:bodyPr>
            <a:noAutofit/>
          </a:bodyPr>
          <a:lstStyle/>
          <a:p>
            <a:r>
              <a:rPr lang="en-IN" sz="2800" b="1" dirty="0">
                <a:latin typeface="Arial" panose="020B0604020202020204" pitchFamily="34" charset="0"/>
                <a:cs typeface="Arial" panose="020B0604020202020204" pitchFamily="34" charset="0"/>
              </a:rPr>
              <a:t>Prompt &amp; Logic Design Screenshot:</a:t>
            </a:r>
          </a:p>
        </p:txBody>
      </p:sp>
      <p:sp>
        <p:nvSpPr>
          <p:cNvPr id="3" name="Subtitle 2">
            <a:extLst>
              <a:ext uri="{FF2B5EF4-FFF2-40B4-BE49-F238E27FC236}">
                <a16:creationId xmlns:a16="http://schemas.microsoft.com/office/drawing/2014/main" id="{6C79DE58-2D15-B663-16F4-BDFFF2DC6127}"/>
              </a:ext>
            </a:extLst>
          </p:cNvPr>
          <p:cNvSpPr>
            <a:spLocks noGrp="1"/>
          </p:cNvSpPr>
          <p:nvPr>
            <p:ph type="subTitle" idx="1"/>
          </p:nvPr>
        </p:nvSpPr>
        <p:spPr/>
        <p:txBody>
          <a:bodyPr/>
          <a:lstStyle/>
          <a:p>
            <a:endParaRPr lang="en-IN" dirty="0"/>
          </a:p>
        </p:txBody>
      </p:sp>
      <p:pic>
        <p:nvPicPr>
          <p:cNvPr id="5" name="Picture 4">
            <a:extLst>
              <a:ext uri="{FF2B5EF4-FFF2-40B4-BE49-F238E27FC236}">
                <a16:creationId xmlns:a16="http://schemas.microsoft.com/office/drawing/2014/main" id="{437B2F85-E631-4912-A5B5-83C748A0C68C}"/>
              </a:ext>
            </a:extLst>
          </p:cNvPr>
          <p:cNvPicPr>
            <a:picLocks noChangeAspect="1"/>
          </p:cNvPicPr>
          <p:nvPr/>
        </p:nvPicPr>
        <p:blipFill>
          <a:blip r:embed="rId2"/>
          <a:srcRect t="23230" b="2580"/>
          <a:stretch>
            <a:fillRect/>
          </a:stretch>
        </p:blipFill>
        <p:spPr>
          <a:xfrm>
            <a:off x="365832" y="1611086"/>
            <a:ext cx="11460335" cy="4654993"/>
          </a:xfrm>
          <a:prstGeom prst="rect">
            <a:avLst/>
          </a:prstGeom>
        </p:spPr>
      </p:pic>
    </p:spTree>
    <p:extLst>
      <p:ext uri="{BB962C8B-B14F-4D97-AF65-F5344CB8AC3E}">
        <p14:creationId xmlns:p14="http://schemas.microsoft.com/office/powerpoint/2010/main" val="2632275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C73BF-67AF-27BF-1E61-7719A1DCB0D8}"/>
              </a:ext>
            </a:extLst>
          </p:cNvPr>
          <p:cNvSpPr>
            <a:spLocks noGrp="1"/>
          </p:cNvSpPr>
          <p:nvPr>
            <p:ph type="ctrTitle"/>
          </p:nvPr>
        </p:nvSpPr>
        <p:spPr>
          <a:xfrm>
            <a:off x="870857" y="275772"/>
            <a:ext cx="5907315" cy="609599"/>
          </a:xfrm>
        </p:spPr>
        <p:txBody>
          <a:bodyPr>
            <a:normAutofit/>
          </a:bodyPr>
          <a:lstStyle/>
          <a:p>
            <a:r>
              <a:rPr lang="en-IN" sz="2800" b="1" dirty="0">
                <a:latin typeface="Arial" panose="020B0604020202020204" pitchFamily="34" charset="0"/>
                <a:cs typeface="Arial" panose="020B0604020202020204" pitchFamily="34" charset="0"/>
              </a:rPr>
              <a:t>Model Configuration Screenshot:</a:t>
            </a:r>
          </a:p>
        </p:txBody>
      </p:sp>
      <p:sp>
        <p:nvSpPr>
          <p:cNvPr id="3" name="Subtitle 2">
            <a:extLst>
              <a:ext uri="{FF2B5EF4-FFF2-40B4-BE49-F238E27FC236}">
                <a16:creationId xmlns:a16="http://schemas.microsoft.com/office/drawing/2014/main" id="{00FC01E2-8631-53D6-7DEC-CF9FCB78F06F}"/>
              </a:ext>
            </a:extLst>
          </p:cNvPr>
          <p:cNvSpPr>
            <a:spLocks noGrp="1"/>
          </p:cNvSpPr>
          <p:nvPr>
            <p:ph type="subTitle" idx="1"/>
          </p:nvPr>
        </p:nvSpPr>
        <p:spPr>
          <a:xfrm>
            <a:off x="1088571" y="885371"/>
            <a:ext cx="9579429" cy="5477738"/>
          </a:xfrm>
        </p:spPr>
        <p:txBody>
          <a:bodyPr>
            <a:normAutofit/>
          </a:bodyPr>
          <a:lstStyle/>
          <a:p>
            <a:pPr algn="just"/>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 Used llama-3-3-70b-instruct via IBM </a:t>
            </a:r>
          </a:p>
          <a:p>
            <a:pPr algn="just"/>
            <a:r>
              <a:rPr lang="en-IN" sz="2000" dirty="0">
                <a:latin typeface="Arial" panose="020B0604020202020204" pitchFamily="34" charset="0"/>
                <a:cs typeface="Arial" panose="020B0604020202020204" pitchFamily="34" charset="0"/>
              </a:rPr>
              <a:t>Watsonx.ai.</a:t>
            </a:r>
          </a:p>
          <a:p>
            <a:pPr algn="just"/>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 Configured the temperature to 0.2 to </a:t>
            </a:r>
          </a:p>
          <a:p>
            <a:pPr algn="just"/>
            <a:r>
              <a:rPr lang="en-IN" sz="2000" dirty="0">
                <a:latin typeface="Arial" panose="020B0604020202020204" pitchFamily="34" charset="0"/>
                <a:cs typeface="Arial" panose="020B0604020202020204" pitchFamily="34" charset="0"/>
              </a:rPr>
              <a:t>minimize hallucinations.</a:t>
            </a:r>
          </a:p>
          <a:p>
            <a:pPr algn="just"/>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 Set the Max Tokens to 2000 to allow </a:t>
            </a:r>
          </a:p>
          <a:p>
            <a:pPr algn="just"/>
            <a:r>
              <a:rPr lang="en-IN" sz="2000" dirty="0">
                <a:latin typeface="Arial" panose="020B0604020202020204" pitchFamily="34" charset="0"/>
                <a:cs typeface="Arial" panose="020B0604020202020204" pitchFamily="34" charset="0"/>
              </a:rPr>
              <a:t>the agent to generate strategies.</a:t>
            </a:r>
          </a:p>
        </p:txBody>
      </p:sp>
      <p:pic>
        <p:nvPicPr>
          <p:cNvPr id="5" name="Picture 4">
            <a:extLst>
              <a:ext uri="{FF2B5EF4-FFF2-40B4-BE49-F238E27FC236}">
                <a16:creationId xmlns:a16="http://schemas.microsoft.com/office/drawing/2014/main" id="{CAB65446-7E25-0028-7972-8DBA2BAEC7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8285" y="953611"/>
            <a:ext cx="5268686" cy="5341258"/>
          </a:xfrm>
          <a:prstGeom prst="rect">
            <a:avLst/>
          </a:prstGeom>
        </p:spPr>
      </p:pic>
    </p:spTree>
    <p:extLst>
      <p:ext uri="{BB962C8B-B14F-4D97-AF65-F5344CB8AC3E}">
        <p14:creationId xmlns:p14="http://schemas.microsoft.com/office/powerpoint/2010/main" val="3264954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800D703-72EA-E88A-8B19-BBCE9C41C137}"/>
              </a:ext>
            </a:extLst>
          </p:cNvPr>
          <p:cNvSpPr>
            <a:spLocks noGrp="1"/>
          </p:cNvSpPr>
          <p:nvPr>
            <p:ph type="ctrTitle"/>
          </p:nvPr>
        </p:nvSpPr>
        <p:spPr>
          <a:xfrm>
            <a:off x="643467" y="110797"/>
            <a:ext cx="5319317" cy="775495"/>
          </a:xfrm>
        </p:spPr>
        <p:txBody>
          <a:bodyPr>
            <a:normAutofit/>
          </a:bodyPr>
          <a:lstStyle/>
          <a:p>
            <a:pPr algn="l"/>
            <a:r>
              <a:rPr lang="en-IN" sz="2800" b="1" dirty="0">
                <a:latin typeface="Arial" panose="020B0604020202020204" pitchFamily="34" charset="0"/>
                <a:cs typeface="Arial" panose="020B0604020202020204" pitchFamily="34" charset="0"/>
              </a:rPr>
              <a:t>System Testing Screenshot:</a:t>
            </a:r>
          </a:p>
        </p:txBody>
      </p:sp>
      <p:sp>
        <p:nvSpPr>
          <p:cNvPr id="3" name="Subtitle 2">
            <a:extLst>
              <a:ext uri="{FF2B5EF4-FFF2-40B4-BE49-F238E27FC236}">
                <a16:creationId xmlns:a16="http://schemas.microsoft.com/office/drawing/2014/main" id="{A432478C-6FE7-7A6E-AA54-4625A6DA7E38}"/>
              </a:ext>
            </a:extLst>
          </p:cNvPr>
          <p:cNvSpPr>
            <a:spLocks noGrp="1"/>
          </p:cNvSpPr>
          <p:nvPr>
            <p:ph type="subTitle" idx="1"/>
          </p:nvPr>
        </p:nvSpPr>
        <p:spPr>
          <a:xfrm>
            <a:off x="7941902" y="1190171"/>
            <a:ext cx="4022909" cy="4557486"/>
          </a:xfrm>
        </p:spPr>
        <p:txBody>
          <a:bodyPr>
            <a:normAutofit/>
          </a:bodyPr>
          <a:lstStyle/>
          <a:p>
            <a:pPr algn="just"/>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 Built a custom UI using </a:t>
            </a:r>
            <a:r>
              <a:rPr lang="en-IN" sz="2000" b="1" dirty="0" err="1">
                <a:latin typeface="Arial" panose="020B0604020202020204" pitchFamily="34" charset="0"/>
                <a:cs typeface="Arial" panose="020B0604020202020204" pitchFamily="34" charset="0"/>
              </a:rPr>
              <a:t>Streamlit</a:t>
            </a:r>
            <a:r>
              <a:rPr lang="en-IN" sz="2000" dirty="0">
                <a:latin typeface="Arial" panose="020B0604020202020204" pitchFamily="34" charset="0"/>
                <a:cs typeface="Arial" panose="020B0604020202020204" pitchFamily="34" charset="0"/>
              </a:rPr>
              <a:t> to gather inputs.</a:t>
            </a:r>
          </a:p>
          <a:p>
            <a:pPr algn="just"/>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 Established a live connection to </a:t>
            </a:r>
            <a:r>
              <a:rPr lang="en-IN" sz="2000" b="1" dirty="0">
                <a:latin typeface="Arial" panose="020B0604020202020204" pitchFamily="34" charset="0"/>
                <a:cs typeface="Arial" panose="020B0604020202020204" pitchFamily="34" charset="0"/>
              </a:rPr>
              <a:t>IBM Watsonx.ai</a:t>
            </a:r>
            <a:r>
              <a:rPr lang="en-IN" sz="2000" dirty="0">
                <a:latin typeface="Arial" panose="020B0604020202020204" pitchFamily="34" charset="0"/>
                <a:cs typeface="Arial" panose="020B0604020202020204" pitchFamily="34" charset="0"/>
              </a:rPr>
              <a:t>(llama-3).</a:t>
            </a:r>
          </a:p>
          <a:p>
            <a:pPr algn="just"/>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 The agent instantly processes these parameters (like guest count, duration, etc.. ) and generates an actionable, sustainable plan.</a:t>
            </a:r>
          </a:p>
          <a:p>
            <a:pPr algn="l"/>
            <a:endParaRPr lang="en-IN" dirty="0"/>
          </a:p>
          <a:p>
            <a:pPr algn="l"/>
            <a:endParaRPr lang="en-IN" dirty="0"/>
          </a:p>
          <a:p>
            <a:pPr algn="l"/>
            <a:endParaRPr lang="en-IN" dirty="0"/>
          </a:p>
        </p:txBody>
      </p:sp>
      <p:pic>
        <p:nvPicPr>
          <p:cNvPr id="5" name="Picture 4">
            <a:extLst>
              <a:ext uri="{FF2B5EF4-FFF2-40B4-BE49-F238E27FC236}">
                <a16:creationId xmlns:a16="http://schemas.microsoft.com/office/drawing/2014/main" id="{8CDCA094-37B6-3E6E-F46D-D7D0265B4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188" y="1190171"/>
            <a:ext cx="7238791" cy="5094515"/>
          </a:xfrm>
          <a:prstGeom prst="rect">
            <a:avLst/>
          </a:prstGeom>
        </p:spPr>
      </p:pic>
    </p:spTree>
    <p:extLst>
      <p:ext uri="{BB962C8B-B14F-4D97-AF65-F5344CB8AC3E}">
        <p14:creationId xmlns:p14="http://schemas.microsoft.com/office/powerpoint/2010/main" val="1640754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09915-FF84-8FC0-C53E-3B4E6D2F6C02}"/>
              </a:ext>
            </a:extLst>
          </p:cNvPr>
          <p:cNvSpPr>
            <a:spLocks noGrp="1"/>
          </p:cNvSpPr>
          <p:nvPr>
            <p:ph type="title"/>
          </p:nvPr>
        </p:nvSpPr>
        <p:spPr>
          <a:xfrm>
            <a:off x="838200" y="655411"/>
            <a:ext cx="10515600" cy="766989"/>
          </a:xfrm>
        </p:spPr>
        <p:txBody>
          <a:bodyPr>
            <a:normAutofit/>
          </a:bodyPr>
          <a:lstStyle/>
          <a:p>
            <a:r>
              <a:rPr lang="en-IN" sz="2800" b="1" dirty="0">
                <a:latin typeface="Arial" panose="020B0604020202020204" pitchFamily="34" charset="0"/>
                <a:cs typeface="Arial" panose="020B0604020202020204" pitchFamily="34" charset="0"/>
              </a:rPr>
              <a:t>Novelty and Uniqueness:</a:t>
            </a:r>
          </a:p>
        </p:txBody>
      </p:sp>
      <p:sp>
        <p:nvSpPr>
          <p:cNvPr id="3" name="Content Placeholder 2">
            <a:extLst>
              <a:ext uri="{FF2B5EF4-FFF2-40B4-BE49-F238E27FC236}">
                <a16:creationId xmlns:a16="http://schemas.microsoft.com/office/drawing/2014/main" id="{B0943367-5141-64F9-602E-5512B958167A}"/>
              </a:ext>
            </a:extLst>
          </p:cNvPr>
          <p:cNvSpPr>
            <a:spLocks noGrp="1"/>
          </p:cNvSpPr>
          <p:nvPr>
            <p:ph idx="1"/>
          </p:nvPr>
        </p:nvSpPr>
        <p:spPr>
          <a:xfrm>
            <a:off x="838200" y="1622198"/>
            <a:ext cx="10515600" cy="4870677"/>
          </a:xfrm>
        </p:spPr>
        <p:txBody>
          <a:bodyPr>
            <a:normAutofit/>
          </a:bodyPr>
          <a:lstStyle/>
          <a:p>
            <a:pPr algn="just"/>
            <a:r>
              <a:rPr lang="en-IN" sz="2000" dirty="0">
                <a:latin typeface="Arial" panose="020B0604020202020204" pitchFamily="34" charset="0"/>
                <a:cs typeface="Arial" panose="020B0604020202020204" pitchFamily="34" charset="0"/>
              </a:rPr>
              <a:t>The solution automates complex food waste risk assessment, reducing manual planning efforts and estimation errors.</a:t>
            </a:r>
          </a:p>
          <a:p>
            <a:pPr algn="just"/>
            <a:r>
              <a:rPr lang="en-IN" sz="2000" dirty="0">
                <a:latin typeface="Arial" panose="020B0604020202020204" pitchFamily="34" charset="0"/>
                <a:cs typeface="Arial" panose="020B0604020202020204" pitchFamily="34" charset="0"/>
              </a:rPr>
              <a:t>It uses </a:t>
            </a:r>
            <a:r>
              <a:rPr lang="en-IN" sz="2000" b="1" dirty="0">
                <a:latin typeface="Arial" panose="020B0604020202020204" pitchFamily="34" charset="0"/>
                <a:cs typeface="Arial" panose="020B0604020202020204" pitchFamily="34" charset="0"/>
              </a:rPr>
              <a:t>IBM Watsonx.ai</a:t>
            </a:r>
            <a:r>
              <a:rPr lang="en-IN" sz="2000" dirty="0">
                <a:latin typeface="Arial" panose="020B0604020202020204" pitchFamily="34" charset="0"/>
                <a:cs typeface="Arial" panose="020B0604020202020204" pitchFamily="34" charset="0"/>
              </a:rPr>
              <a:t> and the </a:t>
            </a:r>
            <a:r>
              <a:rPr lang="en-IN" sz="2000" b="1" dirty="0">
                <a:latin typeface="Arial" panose="020B0604020202020204" pitchFamily="34" charset="0"/>
                <a:cs typeface="Arial" panose="020B0604020202020204" pitchFamily="34" charset="0"/>
              </a:rPr>
              <a:t>Llama-3 model</a:t>
            </a:r>
            <a:r>
              <a:rPr lang="en-IN" sz="2000" dirty="0">
                <a:latin typeface="Arial" panose="020B0604020202020204" pitchFamily="34" charset="0"/>
                <a:cs typeface="Arial" panose="020B0604020202020204" pitchFamily="34" charset="0"/>
              </a:rPr>
              <a:t> to provide real-time, data-backed sustainability strategies without requiring manual analysis.</a:t>
            </a:r>
          </a:p>
          <a:p>
            <a:pPr algn="just"/>
            <a:r>
              <a:rPr lang="en-IN" sz="2000" dirty="0">
                <a:latin typeface="Arial" panose="020B0604020202020204" pitchFamily="34" charset="0"/>
                <a:cs typeface="Arial" panose="020B0604020202020204" pitchFamily="34" charset="0"/>
              </a:rPr>
              <a:t>The system accurately evaluates diverse event parameters like guest count, menu type, and duration through a single, intelligent interface.</a:t>
            </a:r>
          </a:p>
          <a:p>
            <a:pPr algn="just"/>
            <a:r>
              <a:rPr lang="en-IN" sz="2000" dirty="0">
                <a:latin typeface="Arial" panose="020B0604020202020204" pitchFamily="34" charset="0"/>
                <a:cs typeface="Arial" panose="020B0604020202020204" pitchFamily="34" charset="0"/>
              </a:rPr>
              <a:t>Prompt engineering helps identify potential overproduction areas and waste patterns before the event begins.</a:t>
            </a:r>
          </a:p>
          <a:p>
            <a:pPr algn="just"/>
            <a:r>
              <a:rPr lang="en-IN" sz="2000" dirty="0">
                <a:latin typeface="Arial" panose="020B0604020202020204" pitchFamily="34" charset="0"/>
                <a:cs typeface="Arial" panose="020B0604020202020204" pitchFamily="34" charset="0"/>
              </a:rPr>
              <a:t>The model ensures consistent and environmentally responsible order planning, minimizing food waste and unnecessary operational costs.</a:t>
            </a:r>
          </a:p>
          <a:p>
            <a:endParaRPr lang="en-IN" dirty="0"/>
          </a:p>
        </p:txBody>
      </p:sp>
    </p:spTree>
    <p:extLst>
      <p:ext uri="{BB962C8B-B14F-4D97-AF65-F5344CB8AC3E}">
        <p14:creationId xmlns:p14="http://schemas.microsoft.com/office/powerpoint/2010/main" val="2578736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D08D6-EA05-512B-2B36-67EC83C9BA71}"/>
              </a:ext>
            </a:extLst>
          </p:cNvPr>
          <p:cNvSpPr>
            <a:spLocks noGrp="1"/>
          </p:cNvSpPr>
          <p:nvPr>
            <p:ph type="ctrTitle"/>
          </p:nvPr>
        </p:nvSpPr>
        <p:spPr>
          <a:xfrm>
            <a:off x="1712686" y="1311047"/>
            <a:ext cx="2786743" cy="590323"/>
          </a:xfrm>
        </p:spPr>
        <p:txBody>
          <a:bodyPr>
            <a:normAutofit/>
          </a:bodyPr>
          <a:lstStyle/>
          <a:p>
            <a:r>
              <a:rPr lang="en-IN" sz="2800" b="1" dirty="0">
                <a:latin typeface="Arial" panose="020B0604020202020204" pitchFamily="34" charset="0"/>
                <a:cs typeface="Arial" panose="020B0604020202020204" pitchFamily="34" charset="0"/>
              </a:rPr>
              <a:t>Git Hub Link:</a:t>
            </a:r>
            <a:r>
              <a:rPr lang="en-IN" sz="2800" b="1" dirty="0"/>
              <a:t> </a:t>
            </a:r>
          </a:p>
        </p:txBody>
      </p:sp>
      <p:sp>
        <p:nvSpPr>
          <p:cNvPr id="3" name="Subtitle 2">
            <a:extLst>
              <a:ext uri="{FF2B5EF4-FFF2-40B4-BE49-F238E27FC236}">
                <a16:creationId xmlns:a16="http://schemas.microsoft.com/office/drawing/2014/main" id="{428F00C2-181A-CF04-6718-5A9B642F4CAF}"/>
              </a:ext>
            </a:extLst>
          </p:cNvPr>
          <p:cNvSpPr>
            <a:spLocks noGrp="1"/>
          </p:cNvSpPr>
          <p:nvPr>
            <p:ph type="subTitle" idx="1"/>
          </p:nvPr>
        </p:nvSpPr>
        <p:spPr>
          <a:xfrm>
            <a:off x="1524000" y="1901370"/>
            <a:ext cx="9144000" cy="2423887"/>
          </a:xfrm>
        </p:spPr>
        <p:txBody>
          <a:bodyPr/>
          <a:lstStyle/>
          <a:p>
            <a:endParaRPr lang="en-IN" dirty="0">
              <a:hlinkClick r:id="rId2"/>
            </a:endParaRPr>
          </a:p>
          <a:p>
            <a:endParaRPr lang="en-IN" dirty="0">
              <a:hlinkClick r:id="rId2"/>
            </a:endParaRPr>
          </a:p>
          <a:p>
            <a:r>
              <a:rPr lang="en-IN" dirty="0">
                <a:hlinkClick r:id="rId2"/>
              </a:rPr>
              <a:t>https://github.com/Varalakshmi2025/IntelliWaste-Planner.git</a:t>
            </a:r>
            <a:endParaRPr lang="en-IN" dirty="0"/>
          </a:p>
        </p:txBody>
      </p:sp>
    </p:spTree>
    <p:extLst>
      <p:ext uri="{BB962C8B-B14F-4D97-AF65-F5344CB8AC3E}">
        <p14:creationId xmlns:p14="http://schemas.microsoft.com/office/powerpoint/2010/main" val="3133821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06EE8-2E11-F0C0-871C-5DC4C9984869}"/>
              </a:ext>
            </a:extLst>
          </p:cNvPr>
          <p:cNvSpPr>
            <a:spLocks noGrp="1"/>
          </p:cNvSpPr>
          <p:nvPr>
            <p:ph type="title"/>
          </p:nvPr>
        </p:nvSpPr>
        <p:spPr>
          <a:xfrm>
            <a:off x="1113971" y="365127"/>
            <a:ext cx="10515600" cy="694418"/>
          </a:xfrm>
        </p:spPr>
        <p:txBody>
          <a:bodyPr>
            <a:normAutofit/>
          </a:bodyPr>
          <a:lstStyle/>
          <a:p>
            <a:r>
              <a:rPr lang="en-IN" sz="2800" b="1" dirty="0">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95484113-C879-056C-7145-7AF1626B6F9F}"/>
              </a:ext>
            </a:extLst>
          </p:cNvPr>
          <p:cNvSpPr>
            <a:spLocks noGrp="1"/>
          </p:cNvSpPr>
          <p:nvPr>
            <p:ph idx="1"/>
          </p:nvPr>
        </p:nvSpPr>
        <p:spPr>
          <a:xfrm>
            <a:off x="983344" y="1059545"/>
            <a:ext cx="9539513" cy="4972277"/>
          </a:xfrm>
        </p:spPr>
        <p:txBody>
          <a:bodyPr>
            <a:normAutofit/>
          </a:bodyPr>
          <a:lstStyle/>
          <a:p>
            <a:pPr algn="just"/>
            <a:endParaRPr lang="en-IN" sz="2000"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We could connect the platform to vendor inventory systems to automate the entire food ordering process based on our AI recommendations.</a:t>
            </a:r>
          </a:p>
          <a:p>
            <a:pPr algn="just"/>
            <a:r>
              <a:rPr lang="en-IN" sz="2000" dirty="0">
                <a:latin typeface="Arial" panose="020B0604020202020204" pitchFamily="34" charset="0"/>
                <a:cs typeface="Arial" panose="020B0604020202020204" pitchFamily="34" charset="0"/>
              </a:rPr>
              <a:t>Building a dedicated dashboard would allow event managers to track their sustainability progress and waste reduction patterns over time.</a:t>
            </a:r>
          </a:p>
          <a:p>
            <a:pPr algn="just"/>
            <a:r>
              <a:rPr lang="en-IN" sz="2000" dirty="0">
                <a:latin typeface="Arial" panose="020B0604020202020204" pitchFamily="34" charset="0"/>
                <a:cs typeface="Arial" panose="020B0604020202020204" pitchFamily="34" charset="0"/>
              </a:rPr>
              <a:t>As we collect more real-world event data, we can continue to refine our models in </a:t>
            </a:r>
            <a:r>
              <a:rPr lang="en-IN" sz="2000" b="1" dirty="0">
                <a:latin typeface="Arial" panose="020B0604020202020204" pitchFamily="34" charset="0"/>
                <a:cs typeface="Arial" panose="020B0604020202020204" pitchFamily="34" charset="0"/>
              </a:rPr>
              <a:t>IBM Watsonx.ai</a:t>
            </a:r>
            <a:r>
              <a:rPr lang="en-IN" sz="2000" dirty="0">
                <a:latin typeface="Arial" panose="020B0604020202020204" pitchFamily="34" charset="0"/>
                <a:cs typeface="Arial" panose="020B0604020202020204" pitchFamily="34" charset="0"/>
              </a:rPr>
              <a:t> to increase prediction accuracy.</a:t>
            </a:r>
          </a:p>
          <a:p>
            <a:pPr algn="just"/>
            <a:r>
              <a:rPr lang="en-IN" sz="2000" dirty="0"/>
              <a:t>Developing a mobile-friendly interface would enable event staff to make adjustments to event parameters right from the venue floor.</a:t>
            </a:r>
          </a:p>
          <a:p>
            <a:pPr algn="just"/>
            <a:r>
              <a:rPr lang="en-IN" sz="2000" dirty="0"/>
              <a:t>Future updates could include handling complex variables like specific dietary restrictions, cultural preferences, and seasonal food availability to support any catering style.</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5957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781BA-E4A6-3421-B8C8-EFF2005A0732}"/>
              </a:ext>
            </a:extLst>
          </p:cNvPr>
          <p:cNvSpPr>
            <a:spLocks noGrp="1"/>
          </p:cNvSpPr>
          <p:nvPr>
            <p:ph type="ctrTitle"/>
          </p:nvPr>
        </p:nvSpPr>
        <p:spPr>
          <a:xfrm>
            <a:off x="1175657" y="319314"/>
            <a:ext cx="4151086" cy="522515"/>
          </a:xfrm>
        </p:spPr>
        <p:txBody>
          <a:bodyPr>
            <a:normAutofit/>
          </a:bodyPr>
          <a:lstStyle/>
          <a:p>
            <a:r>
              <a:rPr lang="en-IN" sz="2800" b="1" dirty="0">
                <a:latin typeface="Arial" panose="020B0604020202020204" pitchFamily="34" charset="0"/>
                <a:cs typeface="Arial" panose="020B0604020202020204" pitchFamily="34" charset="0"/>
              </a:rPr>
              <a:t>Certificates Earned:</a:t>
            </a:r>
          </a:p>
        </p:txBody>
      </p:sp>
      <p:sp>
        <p:nvSpPr>
          <p:cNvPr id="3" name="Subtitle 2">
            <a:extLst>
              <a:ext uri="{FF2B5EF4-FFF2-40B4-BE49-F238E27FC236}">
                <a16:creationId xmlns:a16="http://schemas.microsoft.com/office/drawing/2014/main" id="{8DAC2B57-20B0-4F19-91B7-D0CF3D55C7F1}"/>
              </a:ext>
            </a:extLst>
          </p:cNvPr>
          <p:cNvSpPr>
            <a:spLocks noGrp="1"/>
          </p:cNvSpPr>
          <p:nvPr>
            <p:ph type="subTitle" idx="1"/>
          </p:nvPr>
        </p:nvSpPr>
        <p:spPr>
          <a:xfrm>
            <a:off x="1524000" y="1016000"/>
            <a:ext cx="9144000" cy="4241800"/>
          </a:xfrm>
        </p:spPr>
        <p:txBody>
          <a:bodyPr/>
          <a:lstStyle/>
          <a:p>
            <a:endParaRPr lang="en-IN" dirty="0"/>
          </a:p>
        </p:txBody>
      </p:sp>
      <p:pic>
        <p:nvPicPr>
          <p:cNvPr id="5" name="Picture 4">
            <a:extLst>
              <a:ext uri="{FF2B5EF4-FFF2-40B4-BE49-F238E27FC236}">
                <a16:creationId xmlns:a16="http://schemas.microsoft.com/office/drawing/2014/main" id="{D0BA46EF-F0C7-B460-458F-566E029876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16000"/>
            <a:ext cx="9144000" cy="5289951"/>
          </a:xfrm>
          <a:prstGeom prst="rect">
            <a:avLst/>
          </a:prstGeom>
        </p:spPr>
      </p:pic>
    </p:spTree>
    <p:extLst>
      <p:ext uri="{BB962C8B-B14F-4D97-AF65-F5344CB8AC3E}">
        <p14:creationId xmlns:p14="http://schemas.microsoft.com/office/powerpoint/2010/main" val="1077080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14993-BBF4-F704-29D1-73E7223F7FF2}"/>
              </a:ext>
            </a:extLst>
          </p:cNvPr>
          <p:cNvSpPr>
            <a:spLocks noGrp="1"/>
          </p:cNvSpPr>
          <p:nvPr>
            <p:ph type="ctrTitle"/>
          </p:nvPr>
        </p:nvSpPr>
        <p:spPr>
          <a:xfrm>
            <a:off x="1524000" y="551543"/>
            <a:ext cx="3614057" cy="478971"/>
          </a:xfrm>
        </p:spPr>
        <p:txBody>
          <a:bodyPr>
            <a:normAutofit/>
          </a:bodyPr>
          <a:lstStyle/>
          <a:p>
            <a:r>
              <a:rPr lang="en-IN" sz="2800" b="1" dirty="0">
                <a:latin typeface="Arial" panose="020B0604020202020204" pitchFamily="34" charset="0"/>
                <a:cs typeface="Arial" panose="020B0604020202020204" pitchFamily="34" charset="0"/>
              </a:rPr>
              <a:t>Certificates Earned:</a:t>
            </a:r>
            <a:endParaRPr lang="en-IN" sz="2800" dirty="0"/>
          </a:p>
        </p:txBody>
      </p:sp>
      <p:sp>
        <p:nvSpPr>
          <p:cNvPr id="3" name="Subtitle 2">
            <a:extLst>
              <a:ext uri="{FF2B5EF4-FFF2-40B4-BE49-F238E27FC236}">
                <a16:creationId xmlns:a16="http://schemas.microsoft.com/office/drawing/2014/main" id="{2C18F500-1C22-FB81-3B31-8C360DF4F418}"/>
              </a:ext>
            </a:extLst>
          </p:cNvPr>
          <p:cNvSpPr>
            <a:spLocks noGrp="1"/>
          </p:cNvSpPr>
          <p:nvPr>
            <p:ph type="subTitle" idx="1"/>
          </p:nvPr>
        </p:nvSpPr>
        <p:spPr>
          <a:xfrm>
            <a:off x="1524000" y="2032000"/>
            <a:ext cx="9144000" cy="3795486"/>
          </a:xfrm>
        </p:spPr>
        <p:txBody>
          <a:bodyPr/>
          <a:lstStyle/>
          <a:p>
            <a:endParaRPr lang="en-IN" dirty="0"/>
          </a:p>
        </p:txBody>
      </p:sp>
      <p:pic>
        <p:nvPicPr>
          <p:cNvPr id="5" name="Picture 4">
            <a:extLst>
              <a:ext uri="{FF2B5EF4-FFF2-40B4-BE49-F238E27FC236}">
                <a16:creationId xmlns:a16="http://schemas.microsoft.com/office/drawing/2014/main" id="{1361DD2A-F2E4-1F3D-3CE3-2C82DF13A286}"/>
              </a:ext>
            </a:extLst>
          </p:cNvPr>
          <p:cNvPicPr>
            <a:picLocks noChangeAspect="1"/>
          </p:cNvPicPr>
          <p:nvPr/>
        </p:nvPicPr>
        <p:blipFill>
          <a:blip r:embed="rId2">
            <a:extLst>
              <a:ext uri="{28A0092B-C50C-407E-A947-70E740481C1C}">
                <a14:useLocalDpi xmlns:a14="http://schemas.microsoft.com/office/drawing/2010/main" val="0"/>
              </a:ext>
            </a:extLst>
          </a:blip>
          <a:srcRect t="3912"/>
          <a:stretch>
            <a:fillRect/>
          </a:stretch>
        </p:blipFill>
        <p:spPr>
          <a:xfrm>
            <a:off x="1422400" y="1030514"/>
            <a:ext cx="9245600" cy="5079999"/>
          </a:xfrm>
          <a:prstGeom prst="rect">
            <a:avLst/>
          </a:prstGeom>
        </p:spPr>
      </p:pic>
    </p:spTree>
    <p:extLst>
      <p:ext uri="{BB962C8B-B14F-4D97-AF65-F5344CB8AC3E}">
        <p14:creationId xmlns:p14="http://schemas.microsoft.com/office/powerpoint/2010/main" val="3696289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03C0C-BE95-2B7E-FA59-05EB125A5D3C}"/>
              </a:ext>
            </a:extLst>
          </p:cNvPr>
          <p:cNvSpPr>
            <a:spLocks noGrp="1"/>
          </p:cNvSpPr>
          <p:nvPr>
            <p:ph type="title"/>
          </p:nvPr>
        </p:nvSpPr>
        <p:spPr>
          <a:xfrm>
            <a:off x="838200" y="365125"/>
            <a:ext cx="10515600" cy="5266418"/>
          </a:xfrm>
        </p:spPr>
        <p:txBody>
          <a:bodyPr>
            <a:normAutofit/>
          </a:bodyPr>
          <a:lstStyle/>
          <a:p>
            <a:pPr algn="ctr"/>
            <a:r>
              <a:rPr lang="en-IN" sz="6000" dirty="0">
                <a:latin typeface="Arial" panose="020B0604020202020204" pitchFamily="34" charset="0"/>
                <a:cs typeface="Arial" panose="020B0604020202020204" pitchFamily="34" charset="0"/>
              </a:rPr>
              <a:t>Thank You!</a:t>
            </a:r>
            <a:br>
              <a:rPr lang="en-IN" sz="6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Thank you for your patience and valuable time</a:t>
            </a:r>
            <a:endParaRPr lang="en-IN" sz="6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4497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TotalTime>
  <Words>857</Words>
  <Application>Microsoft Office PowerPoint</Application>
  <PresentationFormat>Widescreen</PresentationFormat>
  <Paragraphs>64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IBM University Engagement Project Submission</vt:lpstr>
      <vt:lpstr>Project Title – Intelliwaste Event Planner Domain of Project – Environmental Sustainability</vt:lpstr>
      <vt:lpstr>Problem Statement :</vt:lpstr>
      <vt:lpstr>Proposed Solution :</vt:lpstr>
      <vt:lpstr>Technology Used :</vt:lpstr>
      <vt:lpstr>Prompt &amp; Logic Design Screenshot:</vt:lpstr>
      <vt:lpstr>Model Configuration Screenshot:</vt:lpstr>
      <vt:lpstr>System Testing Screenshot:</vt:lpstr>
      <vt:lpstr>Novelty and Uniqueness:</vt:lpstr>
      <vt:lpstr>Git Hub Link: </vt:lpstr>
      <vt:lpstr>Future Scope:</vt:lpstr>
      <vt:lpstr>Certificates Earned:</vt:lpstr>
      <vt:lpstr>Certificates Earned:</vt:lpstr>
      <vt:lpstr>Thank You! Thank you for your patience and valuable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Vara Lakshmi</dc:creator>
  <cp:lastModifiedBy>Vara Lakshmi</cp:lastModifiedBy>
  <cp:revision>2</cp:revision>
  <dcterms:created xsi:type="dcterms:W3CDTF">2026-07-13T15:44:15Z</dcterms:created>
  <dcterms:modified xsi:type="dcterms:W3CDTF">2026-07-14T17:05:46Z</dcterms:modified>
</cp:coreProperties>
</file>